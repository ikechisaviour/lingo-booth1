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2"/>
  </p:notesMasterIdLst>
  <p:sldIdLst>
    <p:sldId id="256" r:id="rId2"/>
    <p:sldId id="257" r:id="rId3"/>
    <p:sldId id="258" r:id="rId4"/>
    <p:sldId id="259" r:id="rId5"/>
    <p:sldId id="260" r:id="rId6"/>
    <p:sldId id="265" r:id="rId7"/>
    <p:sldId id="261" r:id="rId8"/>
    <p:sldId id="262" r:id="rId9"/>
    <p:sldId id="263" r:id="rId10"/>
    <p:sldId id="264" r:id="rId11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16" d="100"/>
          <a:sy n="116" d="100"/>
        </p:scale>
        <p:origin x="224" y="21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1"/>
  <c:style val="2"/>
  <c:chart>
    <c:title>
      <c:tx>
        <c:rich>
          <a:bodyPr/>
          <a:lstStyle/>
          <a:p>
            <a:r>
              <a:rPr lang="en-US" sz="1250" b="1">
                <a:solidFill>
                  <a:srgbClr val="17222E"/>
                </a:solidFill>
                <a:latin typeface="Arial"/>
              </a:rPr>
              <a:t>Pilot cost by track: list vs discount (USD, Institution Pro)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List (no discount)</c:v>
                </c:pt>
              </c:strCache>
            </c:strRef>
          </c:tx>
          <c:spPr>
            <a:solidFill>
              <a:srgbClr val="1B5234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7222E"/>
                    </a:solidFill>
                    <a:latin typeface="Arial"/>
                  </a:defRPr>
                </a:pPr>
                <a:endParaRPr lang="en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Evening (50)</c:v>
                </c:pt>
                <c:pt idx="1">
                  <c:v>Language (100)</c:v>
                </c:pt>
              </c:strCache>
            </c: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3418</c:v>
                </c:pt>
                <c:pt idx="1">
                  <c:v>10254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11-3E40-9030-B71343CE92D9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After 50% founding-partner discount</c:v>
                </c:pt>
              </c:strCache>
            </c:strRef>
          </c:tx>
          <c:spPr>
            <a:solidFill>
              <a:srgbClr val="EC5A29"/>
            </a:solidFill>
            <a:effectLst/>
          </c:spPr>
          <c:invertIfNegative val="0"/>
          <c:dLbls>
            <c:numFmt formatCode="#,##0" sourceLinked="0"/>
            <c:spPr>
              <a:noFill/>
              <a:ln>
                <a:noFill/>
              </a:ln>
              <a:effectLst/>
            </c:spPr>
            <c:txPr>
              <a:bodyPr/>
              <a:lstStyle/>
              <a:p>
                <a:pPr>
                  <a:defRPr sz="1100" b="1" i="0" u="none" strike="noStrike">
                    <a:solidFill>
                      <a:srgbClr val="17222E"/>
                    </a:solidFill>
                    <a:latin typeface="Arial"/>
                  </a:defRPr>
                </a:pPr>
                <a:endParaRPr lang="en-KR"/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0"/>
              </c:ext>
            </c:extLst>
          </c:dLbls>
          <c:cat>
            <c:strRef>
              <c:f>Sheet1!$A$2:$A$3</c:f>
              <c:strCache>
                <c:ptCount val="2"/>
                <c:pt idx="0">
                  <c:v>Evening (50)</c:v>
                </c:pt>
                <c:pt idx="1">
                  <c:v>Language (100)</c:v>
                </c:pt>
              </c:strCache>
            </c: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1709</c:v>
                </c:pt>
                <c:pt idx="1">
                  <c:v>5127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7311-3E40-9030-B71343CE92D9}"/>
            </c:ext>
          </c:extLst>
        </c:ser>
        <c:dLbls>
          <c:dLblPos val="outEnd"/>
          <c:showLegendKey val="0"/>
          <c:showVal val="1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title>
          <c:tx>
            <c:rich>
              <a:bodyPr/>
              <a:lstStyle/>
              <a:p>
                <a:r>
                  <a:rPr lang="en-US"/>
                  <a:t>Track</a:t>
                </a:r>
              </a:p>
            </c:rich>
          </c:tx>
          <c:overlay val="0"/>
        </c:title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E7566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</c:scaling>
        <c:delete val="1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
              <a:solidFill>
                <a:srgbClr val="17222E"/>
              </a:solidFill>
              <a:latin typeface="Arial"/>
            </a:defRPr>
          </a:pPr>
          <a:endParaRPr lang="en-KR"/>
        </a:p>
      </c:txPr>
    </c:legend>
    <c:plotVisOnly val="1"/>
    <c:dispBlanksAs val="span"/>
    <c:showDLblsOverMax val="1"/>
  </c:chart>
  <c:spPr>
    <a:solidFill>
      <a:srgbClr val="F4F8EC"/>
    </a:solidFill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5727399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Relationship Id="rId3" Type="http://schemas.openxmlformats.org/officeDocument/2006/relationships/chart" Target="../charts/chart1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24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61520" cy="164592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8869680" y="-1920240"/>
            <a:ext cx="5669280" cy="5669280"/>
          </a:xfrm>
          <a:prstGeom prst="ellipse">
            <a:avLst/>
          </a:prstGeom>
          <a:solidFill>
            <a:srgbClr val="1B523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10241280" y="3383280"/>
            <a:ext cx="4206240" cy="4206240"/>
          </a:xfrm>
          <a:prstGeom prst="ellipse">
            <a:avLst/>
          </a:prstGeom>
          <a:solidFill>
            <a:srgbClr val="16482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731520" y="1325880"/>
            <a:ext cx="8229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kern="0" spc="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r>
              <a:rPr lang="en-US" sz="1800" b="1" kern="0" spc="500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/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731520" y="1965960"/>
            <a:ext cx="978408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Learn Language </a:t>
            </a:r>
            <a:r>
              <a:rPr lang="en-US" sz="33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in an </a:t>
            </a:r>
            <a:r>
              <a:rPr lang="en-US" sz="33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effective and </a:t>
            </a:r>
            <a:r>
              <a:rPr lang="en-US" sz="3300" b="1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fun way.</a:t>
            </a:r>
            <a:endParaRPr lang="en-US" sz="3300" dirty="0"/>
          </a:p>
        </p:txBody>
      </p:sp>
      <p:sp>
        <p:nvSpPr>
          <p:cNvPr id="7" name="Text 5"/>
          <p:cNvSpPr/>
          <p:nvPr/>
        </p:nvSpPr>
        <p:spPr>
          <a:xfrm>
            <a:off x="749808" y="41148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CD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founding-partner pilot proposal for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749808" y="44805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Kumoh National Institute of Technology, International Programs &amp; Language Education Center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49808" y="59436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DB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Dr Ikechi Saviour Igboanusi (PhD)  ·  June 2026</a:t>
            </a:r>
            <a:endParaRPr lang="en-US" sz="1200" dirty="0"/>
          </a:p>
        </p:txBody>
      </p:sp>
      <p:sp>
        <p:nvSpPr>
          <p:cNvPr id="10" name="Rounded Rectangle 9"/>
          <p:cNvSpPr/>
          <p:nvPr/>
        </p:nvSpPr>
        <p:spPr>
          <a:xfrm>
            <a:off x="731520" y="1078992"/>
            <a:ext cx="2286000" cy="676656"/>
          </a:xfrm>
          <a:prstGeom prst="round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_logo_locku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86968" y="1207008"/>
            <a:ext cx="1860760" cy="420624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SETTING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2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audiences at the Language Education Center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64008" cy="292608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960120" y="2103120"/>
            <a:ext cx="1371600" cy="384048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96012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START HERE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96012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graduate students</a:t>
            </a:r>
            <a:endParaRPr lang="en-US" sz="180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212080" cy="2926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64008" cy="292608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6537960" y="2103120"/>
            <a:ext cx="1371600" cy="384048"/>
          </a:xfrm>
          <a:prstGeom prst="rect">
            <a:avLst/>
          </a:prstGeom>
          <a:solidFill>
            <a:srgbClr val="6E7566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537960" y="2103120"/>
            <a:ext cx="13716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ALSO THIS FALL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537960" y="2697480"/>
            <a:ext cx="4663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Year-long language program</a:t>
            </a:r>
            <a:endParaRPr lang="en-US" sz="1800" dirty="0"/>
          </a:p>
        </p:txBody>
      </p:sp>
      <p:sp>
        <p:nvSpPr>
          <p:cNvPr id="16" name="Shape 14"/>
          <p:cNvSpPr/>
          <p:nvPr/>
        </p:nvSpPr>
        <p:spPr>
          <a:xfrm>
            <a:off x="640080" y="5074920"/>
            <a:ext cx="10881360" cy="1005840"/>
          </a:xfrm>
          <a:prstGeom prst="rect">
            <a:avLst/>
          </a:prstGeom>
          <a:solidFill>
            <a:srgbClr val="12402A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960120" y="5074920"/>
            <a:ext cx="1024128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5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proposal:  </a:t>
            </a:r>
            <a:r>
              <a:rPr lang="en-US" sz="1500" dirty="0">
                <a:solidFill>
                  <a:srgbClr val="CD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 both tracks this fall, with the graduate evening classes as our priority and the language program in parallel.</a:t>
            </a:r>
            <a:endParaRPr lang="en-US" sz="15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WEDGE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2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Why begin with the evening classes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2533879"/>
            <a:ext cx="34290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2533879"/>
            <a:ext cx="64008" cy="182880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914400" y="2735047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Sharpest need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914400" y="3192247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Only ~2 sessions a week, so a self-study companion extends class time without adding teaching hours.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2533879"/>
            <a:ext cx="34290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4343400" y="2533879"/>
            <a:ext cx="64008" cy="182880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4617720" y="2735047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Strongest fit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617720" y="3192247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multilingual cohort learns Korean from each student's own language, not only through English.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2533879"/>
            <a:ext cx="3429000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8046720" y="2533879"/>
            <a:ext cx="64008" cy="182880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321040" y="2735047"/>
            <a:ext cx="30175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Low friction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8321040" y="3192247"/>
            <a:ext cx="30175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flexible support service. Syllabus is relatively flexible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LINGO BOOTH IS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2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One platform, 20 languages, web and mobile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64008" cy="169164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91440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lessons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914400" y="245059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Structured, level-aware curriculum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343400" y="182880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4343400" y="1828800"/>
            <a:ext cx="64008" cy="169164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461772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practice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4617720" y="245059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guided practice partner for speaking and writing, tuned to the learner's level.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8046720" y="182880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8046720" y="1828800"/>
            <a:ext cx="64008" cy="169164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Flashcards &amp; quizzes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8321040" y="245059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Spaced-repetition study and checks that build retention.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370332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640080" y="3703320"/>
            <a:ext cx="64008" cy="169164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91440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Writing practice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914400" y="432511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Guided writing with feedback in the learner's language.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343400" y="370332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1" name="Shape 19"/>
          <p:cNvSpPr/>
          <p:nvPr/>
        </p:nvSpPr>
        <p:spPr>
          <a:xfrm>
            <a:off x="4343400" y="3703320"/>
            <a:ext cx="64008" cy="169164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2" name="Text 20"/>
          <p:cNvSpPr/>
          <p:nvPr/>
        </p:nvSpPr>
        <p:spPr>
          <a:xfrm>
            <a:off x="461772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&amp; placement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4617720" y="432511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level test for placement and progress tracking across skills.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8046720" y="370332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8046720" y="3703320"/>
            <a:ext cx="64008" cy="169164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Text 24"/>
          <p:cNvSpPr/>
          <p:nvPr/>
        </p:nvSpPr>
        <p:spPr>
          <a:xfrm>
            <a:off x="8321040" y="388620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Certificates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321040" y="4325112"/>
            <a:ext cx="30175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3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Completion certificates that recognize achievement.</a:t>
            </a:r>
            <a:endParaRPr lang="en-US" sz="1300" dirty="0"/>
          </a:p>
        </p:txBody>
      </p:sp>
      <p:sp>
        <p:nvSpPr>
          <p:cNvPr id="28" name="Text 26"/>
          <p:cNvSpPr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6E7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Parallel web and mobile (iOS + Android) apps · phone, tablet and desktop · right-to-left languages supported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24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IT FITS THE EVENING CLASSES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7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Built for a multilingual cohort with little class time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166360" cy="1828800"/>
          </a:xfrm>
          <a:prstGeom prst="rect">
            <a:avLst/>
          </a:prstGeom>
          <a:solidFill>
            <a:srgbClr val="0E3320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960120" y="2057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Extends limited class time</a:t>
            </a:r>
            <a:endParaRPr lang="en-US" sz="1700" dirty="0"/>
          </a:p>
        </p:txBody>
      </p:sp>
      <p:sp>
        <p:nvSpPr>
          <p:cNvPr id="6" name="Text 4"/>
          <p:cNvSpPr/>
          <p:nvPr/>
        </p:nvSpPr>
        <p:spPr>
          <a:xfrm>
            <a:off x="960120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7F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Students keep practicing 24/7 on web or phone between the twice-weekly sessions. It supports instructors, never replaces them.</a:t>
            </a:r>
            <a:endParaRPr lang="en-US" sz="1350" dirty="0"/>
          </a:p>
        </p:txBody>
      </p:sp>
      <p:sp>
        <p:nvSpPr>
          <p:cNvPr id="7" name="Shape 5"/>
          <p:cNvSpPr/>
          <p:nvPr/>
        </p:nvSpPr>
        <p:spPr>
          <a:xfrm>
            <a:off x="6172200" y="1828800"/>
            <a:ext cx="5166360" cy="1828800"/>
          </a:xfrm>
          <a:prstGeom prst="rect">
            <a:avLst/>
          </a:prstGeom>
          <a:solidFill>
            <a:srgbClr val="0E3320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6492240" y="20574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Meets students in their first language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6492240" y="26974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7F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Teach Korean from Indonesian, Vietnamese, Arabic, Chinese, Hindi and more.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40080" y="3886200"/>
            <a:ext cx="5166360" cy="1828800"/>
          </a:xfrm>
          <a:prstGeom prst="rect">
            <a:avLst/>
          </a:prstGeom>
          <a:solidFill>
            <a:srgbClr val="0E3320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960120" y="4114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Visibility for coordinators</a:t>
            </a:r>
            <a:endParaRPr lang="en-US" sz="1700" dirty="0"/>
          </a:p>
        </p:txBody>
      </p:sp>
      <p:sp>
        <p:nvSpPr>
          <p:cNvPr id="12" name="Text 10"/>
          <p:cNvSpPr/>
          <p:nvPr/>
        </p:nvSpPr>
        <p:spPr>
          <a:xfrm>
            <a:off x="960120" y="47548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7F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reports show who's engaged, who's struggling, and where to step in.</a:t>
            </a:r>
            <a:endParaRPr lang="en-US" sz="1350" dirty="0"/>
          </a:p>
        </p:txBody>
      </p:sp>
      <p:sp>
        <p:nvSpPr>
          <p:cNvPr id="13" name="Shape 11"/>
          <p:cNvSpPr/>
          <p:nvPr/>
        </p:nvSpPr>
        <p:spPr>
          <a:xfrm>
            <a:off x="6172200" y="3886200"/>
            <a:ext cx="5166360" cy="1828800"/>
          </a:xfrm>
          <a:prstGeom prst="rect">
            <a:avLst/>
          </a:prstGeom>
          <a:solidFill>
            <a:srgbClr val="0E3320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492240" y="411480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and recognition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492240" y="4754880"/>
            <a:ext cx="45720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350" dirty="0">
                <a:solidFill>
                  <a:srgbClr val="E7F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built-in level test supports placement; completion certificates recognize achievement.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4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57200"/>
            <a:ext cx="10881360" cy="29260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EC5A29"/>
                </a:solidFill>
                <a:latin typeface="Arial"/>
              </a:rPr>
              <a:t>FOR THE CENTER · INSTITUTION ADMIN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749808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3000" b="1">
                <a:solidFill>
                  <a:srgbClr val="17222E"/>
                </a:solidFill>
                <a:latin typeface="Georgia"/>
              </a:rPr>
              <a:t>One console to run the whole cohort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82880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Rectangle 4"/>
          <p:cNvSpPr/>
          <p:nvPr/>
        </p:nvSpPr>
        <p:spPr>
          <a:xfrm>
            <a:off x="640080" y="1828800"/>
            <a:ext cx="64008" cy="1691640"/>
          </a:xfrm>
          <a:prstGeom prst="rect">
            <a:avLst/>
          </a:prstGeom>
          <a:solidFill>
            <a:srgbClr val="EC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914400" y="201168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5A29"/>
                </a:solidFill>
                <a:latin typeface="Arial"/>
              </a:rPr>
              <a:t>Invite &amp; organize learners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2432304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3D4438"/>
                </a:solidFill>
                <a:latin typeface="Arial"/>
              </a:rPr>
              <a:t>Add learners by invitation and group them into cohorts.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343400" y="182880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4343400" y="1828800"/>
            <a:ext cx="64008" cy="1691640"/>
          </a:xfrm>
          <a:prstGeom prst="rect">
            <a:avLst/>
          </a:prstGeom>
          <a:solidFill>
            <a:srgbClr val="EC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4617720" y="201168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5A29"/>
                </a:solidFill>
                <a:latin typeface="Arial"/>
              </a:rPr>
              <a:t>Assign &amp; manage seats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17720" y="2432304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3D4438"/>
                </a:solidFill>
                <a:latin typeface="Arial"/>
              </a:rPr>
              <a:t>Give learners access, and suspend or reactivate them to free up or reassign seats.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046719" y="182880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8046719" y="1828800"/>
            <a:ext cx="64008" cy="1691640"/>
          </a:xfrm>
          <a:prstGeom prst="rect">
            <a:avLst/>
          </a:prstGeom>
          <a:solidFill>
            <a:srgbClr val="EC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321040" y="201168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5A29"/>
                </a:solidFill>
                <a:latin typeface="Arial"/>
              </a:rPr>
              <a:t>Seat wallet &amp; forecast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21040" y="2432304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3D4438"/>
                </a:solidFill>
                <a:latin typeface="Arial"/>
              </a:rPr>
              <a:t>See the pool balance and a projection of how long it lasts; switch on auto top-up so no one is interrupted.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370332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640080" y="3703320"/>
            <a:ext cx="64008" cy="1691640"/>
          </a:xfrm>
          <a:prstGeom prst="rect">
            <a:avLst/>
          </a:prstGeom>
          <a:solidFill>
            <a:srgbClr val="EC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914400" y="38862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5A29"/>
                </a:solidFill>
                <a:latin typeface="Arial"/>
              </a:rPr>
              <a:t>Progress reports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14400" y="4306824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3D4438"/>
                </a:solidFill>
                <a:latin typeface="Arial"/>
              </a:rPr>
              <a:t>Track engagement and progress by cohort and by individual learner.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343400" y="370332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43400" y="3703320"/>
            <a:ext cx="64008" cy="1691640"/>
          </a:xfrm>
          <a:prstGeom prst="rect">
            <a:avLst/>
          </a:prstGeom>
          <a:solidFill>
            <a:srgbClr val="EC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617720" y="38862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5A29"/>
                </a:solidFill>
                <a:latin typeface="Arial"/>
              </a:rPr>
              <a:t>Roles &amp; access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17720" y="4306824"/>
            <a:ext cx="3017520" cy="40004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 dirty="0">
                <a:solidFill>
                  <a:srgbClr val="3D4438"/>
                </a:solidFill>
                <a:latin typeface="Arial"/>
              </a:rPr>
              <a:t>Owner, admin, teacher and learner permissions.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46719" y="3703320"/>
            <a:ext cx="3429000" cy="169164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8046719" y="3703320"/>
            <a:ext cx="64008" cy="1691640"/>
          </a:xfrm>
          <a:prstGeom prst="rect">
            <a:avLst/>
          </a:prstGeom>
          <a:solidFill>
            <a:srgbClr val="EC5A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321040" y="3886200"/>
            <a:ext cx="3017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>
                <a:solidFill>
                  <a:srgbClr val="EC5A29"/>
                </a:solidFill>
                <a:latin typeface="Arial"/>
              </a:rPr>
              <a:t>Certificate branding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21040" y="4306824"/>
            <a:ext cx="3017520" cy="960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8000"/>
              </a:lnSpc>
            </a:pPr>
            <a:r>
              <a:rPr sz="1250" b="0">
                <a:solidFill>
                  <a:srgbClr val="3D4438"/>
                </a:solidFill>
                <a:latin typeface="Arial"/>
              </a:rPr>
              <a:t>Co-brand the completion certificates with Kumoh.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40080" y="5989320"/>
            <a:ext cx="108813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6E7566"/>
                </a:solidFill>
                <a:latin typeface="Arial"/>
              </a:rPr>
              <a:t>Coordinators manage everything from one dashboard, with no spreadsheets or manual seat tracking.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LIVE DEMO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2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we'll show you today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822960" y="1828800"/>
            <a:ext cx="502920" cy="50292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82296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554480" y="182880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the language pair   </a:t>
            </a:r>
            <a:r>
              <a:rPr lang="en-US" sz="1350" dirty="0">
                <a:solidFill>
                  <a:srgbClr val="6E7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Korean from a non-English first language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1074420" y="2331720"/>
            <a:ext cx="0" cy="256032"/>
          </a:xfrm>
          <a:prstGeom prst="line">
            <a:avLst/>
          </a:prstGeom>
          <a:noFill/>
          <a:ln w="25400">
            <a:solidFill>
              <a:srgbClr val="CDE3B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822960" y="2587752"/>
            <a:ext cx="502920" cy="50292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822960" y="2587752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554480" y="2587752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guided lesson   </a:t>
            </a:r>
            <a:r>
              <a:rPr lang="en-US" sz="1350" dirty="0">
                <a:solidFill>
                  <a:srgbClr val="6E7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Structured vocabulary and a quick check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1074420" y="3090672"/>
            <a:ext cx="0" cy="256032"/>
          </a:xfrm>
          <a:prstGeom prst="line">
            <a:avLst/>
          </a:prstGeom>
          <a:noFill/>
          <a:ln w="25400">
            <a:solidFill>
              <a:srgbClr val="CDE3B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822960" y="3346704"/>
            <a:ext cx="502920" cy="50292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2960" y="3346704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554480" y="3346704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Conversation practice   </a:t>
            </a:r>
            <a:r>
              <a:rPr lang="en-US" sz="1350" dirty="0">
                <a:solidFill>
                  <a:srgbClr val="6E7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short, level-aware exchange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1074420" y="3849624"/>
            <a:ext cx="0" cy="256032"/>
          </a:xfrm>
          <a:prstGeom prst="line">
            <a:avLst/>
          </a:prstGeom>
          <a:noFill/>
          <a:ln w="25400">
            <a:solidFill>
              <a:srgbClr val="CDE3B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822960" y="4105656"/>
            <a:ext cx="502920" cy="50292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822960" y="4105656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4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554480" y="4105656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Flashcards &amp; quiz   </a:t>
            </a:r>
            <a:r>
              <a:rPr lang="en-US" sz="1350" dirty="0">
                <a:solidFill>
                  <a:srgbClr val="6E7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Retention tools in action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1074420" y="4608576"/>
            <a:ext cx="0" cy="256032"/>
          </a:xfrm>
          <a:prstGeom prst="line">
            <a:avLst/>
          </a:prstGeom>
          <a:noFill/>
          <a:ln w="25400">
            <a:solidFill>
              <a:srgbClr val="CDE3B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0" name="Shape 18"/>
          <p:cNvSpPr/>
          <p:nvPr/>
        </p:nvSpPr>
        <p:spPr>
          <a:xfrm>
            <a:off x="822960" y="4864608"/>
            <a:ext cx="502920" cy="50292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822960" y="4864608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554480" y="4864608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Coordinator view   </a:t>
            </a:r>
            <a:r>
              <a:rPr lang="en-US" sz="1350" dirty="0">
                <a:solidFill>
                  <a:srgbClr val="6E7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Progress reports for the evening-class cohort</a:t>
            </a:r>
            <a:endParaRPr lang="en-US" sz="1600" dirty="0"/>
          </a:p>
        </p:txBody>
      </p:sp>
      <p:sp>
        <p:nvSpPr>
          <p:cNvPr id="23" name="Shape 21"/>
          <p:cNvSpPr/>
          <p:nvPr/>
        </p:nvSpPr>
        <p:spPr>
          <a:xfrm>
            <a:off x="1074420" y="5367528"/>
            <a:ext cx="0" cy="256032"/>
          </a:xfrm>
          <a:prstGeom prst="line">
            <a:avLst/>
          </a:prstGeom>
          <a:noFill/>
          <a:ln w="25400">
            <a:solidFill>
              <a:srgbClr val="CDE3B0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822960" y="5623560"/>
            <a:ext cx="502920" cy="50292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822960" y="56235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6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554480" y="5623560"/>
            <a:ext cx="96926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Placement &amp; certificate   </a:t>
            </a:r>
            <a:r>
              <a:rPr lang="en-US" sz="1350" dirty="0">
                <a:solidFill>
                  <a:srgbClr val="6E756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Level test and recognized outcome</a:t>
            </a:r>
            <a:endParaRPr lang="en-US" sz="16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TWO-TRACK PRICING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2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Seat packs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640080" y="1600200"/>
            <a:ext cx="64008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2000"/>
              </a:lnSpc>
              <a:buNone/>
            </a:pPr>
            <a:r>
              <a:rPr lang="en-US" sz="14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Institution buy seats, and add learners. </a:t>
            </a:r>
            <a:r>
              <a:rPr lang="en-US" sz="140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seat is 30 days of access from a prepaid pool; each learner uses about four across the semester. All tiers start at 10 seats; the chart shows Institution Pro after the founding-partner discount.</a:t>
            </a:r>
            <a:endParaRPr lang="en-US" sz="1400" dirty="0"/>
          </a:p>
        </p:txBody>
      </p:sp>
      <p:graphicFrame>
        <p:nvGraphicFramePr>
          <p:cNvPr id="5" name="Chart 0"/>
          <p:cNvGraphicFramePr/>
          <p:nvPr/>
        </p:nvGraphicFramePr>
        <p:xfrm>
          <a:off x="548640" y="2788920"/>
          <a:ext cx="6583680" cy="36576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6" name="Shape 3"/>
          <p:cNvSpPr/>
          <p:nvPr/>
        </p:nvSpPr>
        <p:spPr>
          <a:xfrm>
            <a:off x="7498080" y="2788920"/>
            <a:ext cx="4023360" cy="1691640"/>
          </a:xfrm>
          <a:prstGeom prst="rect">
            <a:avLst/>
          </a:prstGeom>
          <a:solidFill>
            <a:srgbClr val="12402A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7" name="Text 4"/>
          <p:cNvSpPr/>
          <p:nvPr/>
        </p:nvSpPr>
        <p:spPr>
          <a:xfrm>
            <a:off x="7772400" y="292608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$6,836</a:t>
            </a:r>
            <a:endParaRPr lang="en-US" sz="3800" dirty="0"/>
          </a:p>
        </p:txBody>
      </p:sp>
      <p:sp>
        <p:nvSpPr>
          <p:cNvPr id="8" name="Text 5"/>
          <p:cNvSpPr/>
          <p:nvPr/>
        </p:nvSpPr>
        <p:spPr>
          <a:xfrm>
            <a:off x="7772400" y="3703320"/>
            <a:ext cx="3520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dirty="0">
                <a:solidFill>
                  <a:srgbClr val="CD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full two-track pilot after the 50% founding-partner discount (list $13,672)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498080" y="4663440"/>
            <a:ext cx="4023360" cy="178308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0" name="Shape 7"/>
          <p:cNvSpPr/>
          <p:nvPr/>
        </p:nvSpPr>
        <p:spPr>
          <a:xfrm>
            <a:off x="7498080" y="4663440"/>
            <a:ext cx="64008" cy="178308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8"/>
          <p:cNvSpPr/>
          <p:nvPr/>
        </p:nvSpPr>
        <p:spPr>
          <a:xfrm>
            <a:off x="7818120" y="48006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EC5A29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$34 / $51</a:t>
            </a:r>
            <a:endParaRPr lang="en-US" sz="3400" dirty="0"/>
          </a:p>
        </p:txBody>
      </p:sp>
      <p:sp>
        <p:nvSpPr>
          <p:cNvPr id="12" name="Text 9"/>
          <p:cNvSpPr/>
          <p:nvPr/>
        </p:nvSpPr>
        <p:spPr>
          <a:xfrm>
            <a:off x="7818120" y="5440680"/>
            <a:ext cx="3520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per evening / language student, after discount.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8E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57200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kern="0" spc="300" dirty="0">
                <a:solidFill>
                  <a:srgbClr val="EC5A29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PLAN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713232"/>
            <a:ext cx="1088136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3000" b="1" dirty="0">
                <a:solidFill>
                  <a:srgbClr val="17222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Two tracks, one fall</a:t>
            </a:r>
            <a:endParaRPr lang="en-US" sz="30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521208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640080" y="1828800"/>
            <a:ext cx="5212080" cy="868680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960120" y="1938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A · PRIORITY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96012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7F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semester (Sep-Dec, 2026)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960120" y="2926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International graduate evening classes</a:t>
            </a:r>
            <a:endParaRPr lang="en-US" sz="1700" dirty="0"/>
          </a:p>
        </p:txBody>
      </p:sp>
      <p:sp>
        <p:nvSpPr>
          <p:cNvPr id="9" name="Text 7"/>
          <p:cNvSpPr/>
          <p:nvPr/>
        </p:nvSpPr>
        <p:spPr>
          <a:xfrm>
            <a:off x="960120" y="37033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paid semester pilot. Daily practice between the twice-weekly sessions, in each student's own language, with coordinator progress reports and calibrated success metrics.</a:t>
            </a:r>
            <a:endParaRPr lang="en-US" sz="1350" dirty="0"/>
          </a:p>
        </p:txBody>
      </p:sp>
      <p:sp>
        <p:nvSpPr>
          <p:cNvPr id="10" name="Shape 8"/>
          <p:cNvSpPr/>
          <p:nvPr/>
        </p:nvSpPr>
        <p:spPr>
          <a:xfrm>
            <a:off x="6217920" y="1828800"/>
            <a:ext cx="5212080" cy="4023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DE6CE"/>
            </a:solidFill>
            <a:prstDash val="solid"/>
          </a:ln>
          <a:effectLst>
            <a:outerShdw blurRad="88900" dist="38100" dir="8100000" algn="bl" rotWithShape="0">
              <a:srgbClr val="9CB07F">
                <a:alpha val="28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6217920" y="1828800"/>
            <a:ext cx="5212080" cy="868680"/>
          </a:xfrm>
          <a:prstGeom prst="rect">
            <a:avLst/>
          </a:prstGeom>
          <a:solidFill>
            <a:srgbClr val="12402A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6537960" y="1938528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2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TRACK B · PARALLEL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537960" y="22860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E7F0D6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This fall · Sep-Feb (two semesters)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537960" y="2926080"/>
            <a:ext cx="45720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700" b="1" dirty="0">
                <a:solidFill>
                  <a:srgbClr val="17222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Korean language program</a:t>
            </a:r>
            <a:endParaRPr lang="en-US" sz="1700" dirty="0"/>
          </a:p>
        </p:txBody>
      </p:sp>
      <p:sp>
        <p:nvSpPr>
          <p:cNvPr id="15" name="Text 13"/>
          <p:cNvSpPr/>
          <p:nvPr/>
        </p:nvSpPr>
        <p:spPr>
          <a:xfrm>
            <a:off x="6537960" y="3703320"/>
            <a:ext cx="457200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5000"/>
              </a:lnSpc>
              <a:buNone/>
            </a:pPr>
            <a:r>
              <a:rPr lang="en-US" sz="1350" dirty="0">
                <a:solidFill>
                  <a:srgbClr val="3D443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Runs in parallel this fall. We map Lingo Booth's lessons onto the program's established curriculum so it reinforces what teachers deliver; the evening track stays the priority.</a:t>
            </a:r>
            <a:endParaRPr lang="en-US" sz="13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2402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1828800" y="3657600"/>
            <a:ext cx="5486400" cy="5486400"/>
          </a:xfrm>
          <a:prstGeom prst="ellipse">
            <a:avLst/>
          </a:prstGeom>
          <a:solidFill>
            <a:srgbClr val="1B5234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" name="Text 1"/>
          <p:cNvSpPr/>
          <p:nvPr/>
        </p:nvSpPr>
        <p:spPr>
          <a:xfrm>
            <a:off x="731520" y="839483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3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BECOME A FOUNDING PARTNER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731520" y="1342403"/>
            <a:ext cx="1060704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3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Let's pilot with the evening classes this semester.</a:t>
            </a:r>
            <a:endParaRPr lang="en-US" sz="3200" dirty="0"/>
          </a:p>
        </p:txBody>
      </p:sp>
      <p:sp>
        <p:nvSpPr>
          <p:cNvPr id="5" name="Shape 3"/>
          <p:cNvSpPr/>
          <p:nvPr/>
        </p:nvSpPr>
        <p:spPr>
          <a:xfrm>
            <a:off x="777240" y="3383280"/>
            <a:ext cx="457200" cy="45720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7724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463040" y="338328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D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Confirm the cohort and a start date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777240" y="4096512"/>
            <a:ext cx="457200" cy="45720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777240" y="4096512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2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1463040" y="4096512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D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Agree success metrics and the founding-partner price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777240" y="4809744"/>
            <a:ext cx="457200" cy="457200"/>
          </a:xfrm>
          <a:prstGeom prst="ellipse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77240" y="4809744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</a:t>
            </a:r>
            <a:endParaRPr lang="en-US" sz="1600" dirty="0"/>
          </a:p>
        </p:txBody>
      </p:sp>
      <p:sp>
        <p:nvSpPr>
          <p:cNvPr id="13" name="Text 11"/>
          <p:cNvSpPr/>
          <p:nvPr/>
        </p:nvSpPr>
        <p:spPr>
          <a:xfrm>
            <a:off x="1463040" y="4809744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dirty="0">
                <a:solidFill>
                  <a:srgbClr val="CDE3B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Issue a Purchase Order, we provision seats and onboard your team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731520" y="5897880"/>
            <a:ext cx="10698480" cy="54864"/>
          </a:xfrm>
          <a:prstGeom prst="rect">
            <a:avLst/>
          </a:prstGeom>
          <a:solidFill>
            <a:srgbClr val="EC5A2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Text 13"/>
          <p:cNvSpPr/>
          <p:nvPr/>
        </p:nvSpPr>
        <p:spPr>
          <a:xfrm>
            <a:off x="731520" y="608076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Ikechi Saviour Igboanusi</a:t>
            </a:r>
            <a:r>
              <a:rPr lang="en-US" sz="1300" dirty="0">
                <a:solidFill>
                  <a:srgbClr val="9DB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</a:t>
            </a:r>
            <a:r>
              <a:rPr lang="en-US" sz="1300" dirty="0" err="1">
                <a:solidFill>
                  <a:srgbClr val="9DB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ikechisaviour@gmail.com</a:t>
            </a:r>
            <a:r>
              <a:rPr lang="en-US" sz="1300" dirty="0">
                <a:solidFill>
                  <a:srgbClr val="9DB98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   ·   Lingo Booth</a:t>
            </a:r>
            <a:endParaRPr lang="en-US" sz="1300" dirty="0"/>
          </a:p>
        </p:txBody>
      </p:sp>
      <p:sp>
        <p:nvSpPr>
          <p:cNvPr id="16" name="Text 1">
            <a:extLst>
              <a:ext uri="{FF2B5EF4-FFF2-40B4-BE49-F238E27FC236}">
                <a16:creationId xmlns:a16="http://schemas.microsoft.com/office/drawing/2014/main" id="{3815EF19-731E-7DBB-A5C4-7DCB08DCCD47}"/>
              </a:ext>
            </a:extLst>
          </p:cNvPr>
          <p:cNvSpPr/>
          <p:nvPr/>
        </p:nvSpPr>
        <p:spPr>
          <a:xfrm>
            <a:off x="1463040" y="2830067"/>
            <a:ext cx="9875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kern="0" spc="300" dirty="0">
                <a:solidFill>
                  <a:srgbClr val="9FE87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Next?</a:t>
            </a: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</TotalTime>
  <Words>779</Words>
  <Application>Microsoft Macintosh PowerPoint</Application>
  <PresentationFormat>Widescreen</PresentationFormat>
  <Paragraphs>112</Paragraphs>
  <Slides>10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Lingo Booth — Kumoh Pilot</dc:title>
  <dc:subject>PptxGenJS Presentation</dc:subject>
  <dc:creator>Lingo Booth</dc:creator>
  <cp:lastModifiedBy>IGBOANUSI SAVIOUR</cp:lastModifiedBy>
  <cp:revision>6</cp:revision>
  <dcterms:created xsi:type="dcterms:W3CDTF">2026-06-07T12:14:46Z</dcterms:created>
  <dcterms:modified xsi:type="dcterms:W3CDTF">2026-06-07T14:59:53Z</dcterms:modified>
</cp:coreProperties>
</file>