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2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50" b="1">
                <a:solidFill>
                  <a:srgbClr val="17222E"/>
                </a:solidFill>
                <a:latin typeface="Arial"/>
              </a:rPr>
              <a:t>Pilot cost by track — list vs discount (USD, Institution Pro)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 (no discount)</c:v>
                </c:pt>
              </c:strCache>
            </c:strRef>
          </c:tx>
          <c:spPr>
            <a:solidFill>
              <a:srgbClr val="1B52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7222E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Evening (50)</c:v>
                </c:pt>
                <c:pt idx="1">
                  <c:v>Language (100)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3418</c:v>
                </c:pt>
                <c:pt idx="1">
                  <c:v>10254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11-3E40-9030-B71343CE92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50% founding-partner discount</c:v>
                </c:pt>
              </c:strCache>
            </c:strRef>
          </c:tx>
          <c:spPr>
            <a:solidFill>
              <a:srgbClr val="EC5A2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7222E"/>
                    </a:solidFill>
                    <a:latin typeface="Arial"/>
                  </a:defRPr>
                </a:pPr>
                <a:endParaRPr lang="en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Evening (50)</c:v>
                </c:pt>
                <c:pt idx="1">
                  <c:v>Language (100)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1709</c:v>
                </c:pt>
                <c:pt idx="1">
                  <c:v>5127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11-3E40-9030-B71343CE92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Track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7222E"/>
              </a:solidFill>
              <a:latin typeface="Arial"/>
            </a:defRPr>
          </a:pPr>
          <a:endParaRPr lang="en-KR"/>
        </a:p>
      </c:txPr>
    </c:legend>
    <c:plotVisOnly val="1"/>
    <c:dispBlanksAs val="span"/>
    <c:showDLblsOverMax val="1"/>
  </c:chart>
  <c:spPr>
    <a:solidFill>
      <a:srgbClr val="F4F8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73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1B523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10241280" y="3383280"/>
            <a:ext cx="4206240" cy="4206240"/>
          </a:xfrm>
          <a:prstGeom prst="ellipse">
            <a:avLst/>
          </a:prstGeom>
          <a:solidFill>
            <a:srgbClr val="16482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LINGO </a:t>
            </a:r>
            <a:r>
              <a:rPr lang="en-US" sz="1800" b="1" kern="0" spc="5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Language </a:t>
            </a:r>
            <a:r>
              <a:rPr lang="en-US" sz="3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an </a:t>
            </a: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and </a:t>
            </a:r>
            <a:r>
              <a:rPr lang="en-US" sz="3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 way.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49808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founding-partner pilot proposal for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4480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Kumoh National Institute of Technology — International Programs &amp; Language Education Center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Ikechi Saviour Igboanusi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audiences at the Language Education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292608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60120" y="2103120"/>
            <a:ext cx="1371600" cy="384048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96012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graduate students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212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64008" cy="292608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537960" y="2103120"/>
            <a:ext cx="1781868" cy="384048"/>
          </a:xfrm>
          <a:prstGeom prst="rect">
            <a:avLst/>
          </a:prstGeom>
          <a:solidFill>
            <a:srgbClr val="6E75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17818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ALSO, THIS FALL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Year-long language program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solidFill>
            <a:srgbClr val="12402A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6012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proposal:  </a:t>
            </a:r>
            <a:r>
              <a:rPr lang="en-US" sz="150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tracks this fall — with the graduate evening classes as our priority and the language program in parallel.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begin with the evening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33879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2533879"/>
            <a:ext cx="64008" cy="182880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735047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Sharpest need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9224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~2 sessions a week — a self-study companion extends class time without adding teaching hours.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533879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4343400" y="2533879"/>
            <a:ext cx="64008" cy="182880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617720" y="2735047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fit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19224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multilingual cohort learns Korean from each student's own language, not only through English.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533879"/>
            <a:ext cx="3429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8046720" y="2533879"/>
            <a:ext cx="64008" cy="182880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321040" y="2735047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friction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192247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flexible support service. Syllabus is relatively flexible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LINGO BOOTH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20 languages, web and mobile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lessons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level-aware curriculum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461772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practice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4505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practice partner for speaking and writing, tuned to the learner's level.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8046720" y="182880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 &amp; quizzes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45059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Spaced-repetition study and checks that build retention.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practice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3251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writing with feedback in the learner's language.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4343400" y="370332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461772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&amp; placement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3251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level test for placement and progress tracking across skills.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8046720" y="3703320"/>
            <a:ext cx="64008" cy="169164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321040" y="3886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21040" y="432511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certificates that recognize achievement.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web and mobile (iOS + Android) apps · phone, tablet and desktop · right-to-left languages supported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FITS THE EVENING CLASSES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multilingual cohort with little class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66360" cy="1828800"/>
          </a:xfrm>
          <a:prstGeom prst="rect">
            <a:avLst/>
          </a:prstGeom>
          <a:solidFill>
            <a:srgbClr val="0E3320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limited class time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keep practicing 24/7 on web or phone between the twice-weekly sessions. It supports instructors, never replaces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166360" cy="1828800"/>
          </a:xfrm>
          <a:prstGeom prst="rect">
            <a:avLst/>
          </a:prstGeom>
          <a:solidFill>
            <a:srgbClr val="0E3320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students in their first language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Korean from Indonesian, Vietnamese, Arabic, Chinese, Hindi and more.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166360" cy="1828800"/>
          </a:xfrm>
          <a:prstGeom prst="rect">
            <a:avLst/>
          </a:prstGeom>
          <a:solidFill>
            <a:srgbClr val="0E3320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96012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for coordinators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reports show who's engaged, who's struggling, and where to step in.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886200"/>
            <a:ext cx="5166360" cy="1828800"/>
          </a:xfrm>
          <a:prstGeom prst="rect">
            <a:avLst/>
          </a:prstGeom>
          <a:solidFill>
            <a:srgbClr val="0E3320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9224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and recognition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built-in level test supports placement; completion certificates recognize achievement.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C5A29"/>
                </a:solidFill>
                <a:latin typeface="Arial"/>
              </a:rPr>
              <a:t>FOR THE CENTER — INSTITUTION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22E"/>
                </a:solidFill>
                <a:latin typeface="Georgia"/>
              </a:rPr>
              <a:t>One console to run the whole cohort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Invite &amp; organize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D4438"/>
                </a:solidFill>
                <a:latin typeface="Arial"/>
              </a:rPr>
              <a:t>Add learners by invitation and group them into cohorts.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Assign &amp; manage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3230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D4438"/>
                </a:solidFill>
                <a:latin typeface="Arial"/>
              </a:rPr>
              <a:t>Give learners access, and suspend or reactivate them to free up or reassign seats.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19" y="182880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Seat wallet &amp;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3230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D4438"/>
                </a:solidFill>
                <a:latin typeface="Arial"/>
              </a:rPr>
              <a:t>See the pool balance and a projection of how long it lasts; switch on auto top-up so no one is interrupted.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0332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Progress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0682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D4438"/>
                </a:solidFill>
                <a:latin typeface="Arial"/>
              </a:rPr>
              <a:t>Track engagement and progress by cohort and by individual learner.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370332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8862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Roles &amp;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06824"/>
            <a:ext cx="3017520" cy="400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dirty="0">
                <a:solidFill>
                  <a:srgbClr val="3D4438"/>
                </a:solidFill>
                <a:latin typeface="Arial"/>
              </a:rPr>
              <a:t>Owner, admin, teacher and learner permissions.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19" y="3703320"/>
            <a:ext cx="34290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19" y="3703320"/>
            <a:ext cx="64008" cy="1691640"/>
          </a:xfrm>
          <a:prstGeom prst="rect">
            <a:avLst/>
          </a:prstGeom>
          <a:solidFill>
            <a:srgbClr val="EC5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C5A29"/>
                </a:solidFill>
                <a:latin typeface="Arial"/>
              </a:rPr>
              <a:t>Certificate branding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06824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3D4438"/>
                </a:solidFill>
                <a:latin typeface="Arial"/>
              </a:rPr>
              <a:t>Co-brand the completion certificates with Kumoh.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7566"/>
                </a:solidFill>
                <a:latin typeface="Arial"/>
              </a:rPr>
              <a:t>Coordinators manage everything from one dashboard — no spreadsheets, no manual seat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show you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language pair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from a non-English first language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4420" y="2331720"/>
            <a:ext cx="0" cy="256032"/>
          </a:xfrm>
          <a:prstGeom prst="line">
            <a:avLst/>
          </a:prstGeom>
          <a:noFill/>
          <a:ln w="25400">
            <a:solidFill>
              <a:srgbClr val="CDE3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5877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guided lesson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vocabulary and a quick check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4420" y="3090672"/>
            <a:ext cx="0" cy="256032"/>
          </a:xfrm>
          <a:prstGeom prst="line">
            <a:avLst/>
          </a:prstGeom>
          <a:noFill/>
          <a:ln w="25400">
            <a:solidFill>
              <a:srgbClr val="CDE3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822960" y="3346704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822960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34670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practice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level-aware exchange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4420" y="3849624"/>
            <a:ext cx="0" cy="256032"/>
          </a:xfrm>
          <a:prstGeom prst="line">
            <a:avLst/>
          </a:prstGeom>
          <a:noFill/>
          <a:ln w="25400">
            <a:solidFill>
              <a:srgbClr val="CDE3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822960" y="4105656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82296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10565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 &amp; quiz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tools in action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4420" y="4608576"/>
            <a:ext cx="0" cy="256032"/>
          </a:xfrm>
          <a:prstGeom prst="line">
            <a:avLst/>
          </a:prstGeom>
          <a:noFill/>
          <a:ln w="25400">
            <a:solidFill>
              <a:srgbClr val="CDE3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822960" y="4864608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82296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8646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view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reports for the evening-class cohort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4420" y="5367528"/>
            <a:ext cx="0" cy="256032"/>
          </a:xfrm>
          <a:prstGeom prst="line">
            <a:avLst/>
          </a:prstGeom>
          <a:noFill/>
          <a:ln w="25400">
            <a:solidFill>
              <a:srgbClr val="CDE3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822960" y="5623560"/>
            <a:ext cx="502920" cy="50292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54480" y="56235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&amp; certificate   </a:t>
            </a:r>
            <a:r>
              <a:rPr lang="en-US" sz="1350" dirty="0">
                <a:solidFill>
                  <a:srgbClr val="6E75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test and recognized outcome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— TWO TRACKS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 packs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buy seats, and add learners. </a:t>
            </a:r>
            <a:r>
              <a:rPr lang="en-US" sz="140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seat is 30 days of access from a prepaid pool; each learner uses about four across the semester. All tiers start at 10 seats; the chart shows Institution Pro after the founding-partner discount.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788920"/>
          <a:ext cx="65836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788920"/>
            <a:ext cx="4023360" cy="1691640"/>
          </a:xfrm>
          <a:prstGeom prst="rect">
            <a:avLst/>
          </a:prstGeom>
          <a:solidFill>
            <a:srgbClr val="12402A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7772400" y="2926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$6,836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77240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two-track pilot after the 50% founding-partner discount (list $13,672)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498080" y="4663440"/>
            <a:ext cx="4023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7498080" y="4663440"/>
            <a:ext cx="64008" cy="178308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8"/>
          <p:cNvSpPr/>
          <p:nvPr/>
        </p:nvSpPr>
        <p:spPr>
          <a:xfrm>
            <a:off x="7818120" y="4800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C5A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 / $51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818120" y="5440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evening / language student, after discount.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C5A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72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tracks, one fall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868680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96012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PRIORITY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semester (Sep–Dec, 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graduate evening classes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paid semester pilot. Daily practice between the twice-weekly sessions, in each student's own language, with coordinator progress reports and calibrated success metrics.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CE"/>
            </a:solidFill>
            <a:prstDash val="solid"/>
          </a:ln>
          <a:effectLst>
            <a:outerShdw blurRad="88900" dist="38100" dir="8100000" algn="bl" rotWithShape="0">
              <a:srgbClr val="9CB07F">
                <a:alpha val="28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212080" cy="868680"/>
          </a:xfrm>
          <a:prstGeom prst="rect">
            <a:avLst/>
          </a:prstGeom>
          <a:solidFill>
            <a:srgbClr val="12402A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653796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PARALLEL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7F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fall · Sep–Feb (two semesters)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72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 language program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7033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D4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parallel this fall. We map Lingo Booth's lessons onto the program's established curriculum so it reinforces what teachers deliver; the evening track stays the priority.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4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B523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731520" y="839483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FOUNDING PARTNER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42403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pilot with the evening classes this semester.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cohort and a start date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4096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success metrics and the founding-partner price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4809744"/>
            <a:ext cx="457200" cy="457200"/>
          </a:xfrm>
          <a:prstGeom prst="ellipse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777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8097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DE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 Purchase Order — we provision seats and onboard your team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5897880"/>
            <a:ext cx="10698480" cy="54864"/>
          </a:xfrm>
          <a:prstGeom prst="rect">
            <a:avLst/>
          </a:prstGeom>
          <a:solidFill>
            <a:srgbClr val="EC5A29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73152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Ikechi Saviour Igboanusi</a:t>
            </a:r>
            <a:r>
              <a:rPr lang="en-US" sz="1300" dirty="0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300" dirty="0" err="1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ikechisaviour@gmail.com</a:t>
            </a:r>
            <a:r>
              <a:rPr lang="en-US" sz="1300" dirty="0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 Lingo Booth  ·   </a:t>
            </a:r>
            <a:r>
              <a:rPr lang="en-US" sz="1300" dirty="0" err="1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lingobooth.com</a:t>
            </a:r>
            <a:r>
              <a:rPr lang="en-US" sz="1300" dirty="0">
                <a:solidFill>
                  <a:srgbClr val="9D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815EF19-731E-7DBB-A5C4-7DCB08DCCD47}"/>
              </a:ext>
            </a:extLst>
          </p:cNvPr>
          <p:cNvSpPr/>
          <p:nvPr/>
        </p:nvSpPr>
        <p:spPr>
          <a:xfrm>
            <a:off x="1463040" y="2830067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9FE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Next?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780</Words>
  <Application>Microsoft Macintosh PowerPoint</Application>
  <PresentationFormat>Widescreen</PresentationFormat>
  <Paragraphs>112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Lingo Booth — Kumoh Pilot</dc:title>
  <dc:subject>PptxGenJS Presentation</dc:subject>
  <dc:creator>Lingo Booth</dc:creator>
  <cp:lastModifiedBy>IGBOANUSI SAVIOUR</cp:lastModifiedBy>
  <cp:revision>7</cp:revision>
  <dcterms:created xsi:type="dcterms:W3CDTF">2026-06-07T12:14:46Z</dcterms:created>
  <dcterms:modified xsi:type="dcterms:W3CDTF">2026-06-08T04:15:02Z</dcterms:modified>
</cp:coreProperties>
</file>